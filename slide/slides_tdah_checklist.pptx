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In6V6B8uxsJqJlp7WOr7wuRji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C5CE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118872"/>
            <a:ext cx="347472" cy="5024628"/>
          </a:xfrm>
          <a:prstGeom prst="rect">
            <a:avLst/>
          </a:prstGeom>
          <a:solidFill>
            <a:srgbClr val="E84393"/>
          </a:solidFill>
          <a:ln cap="flat" cmpd="sng" w="12700">
            <a:solidFill>
              <a:srgbClr val="E843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457200"/>
            <a:ext cx="164592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4640" y="8229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02920" y="224028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TDAH e a Importância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288036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EFC4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55EFC4"/>
                </a:solidFill>
                <a:latin typeface="Trebuchet MS"/>
                <a:ea typeface="Trebuchet MS"/>
                <a:cs typeface="Trebuchet MS"/>
                <a:sym typeface="Trebuchet MS"/>
              </a:rPr>
              <a:t>do Checklist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361188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Por que organizamos nossas ideias em listas e como isso muda vidas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420624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2A4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2A4FF"/>
                </a:solidFill>
                <a:latin typeface="Calibri"/>
                <a:ea typeface="Calibri"/>
                <a:cs typeface="Calibri"/>
                <a:sym typeface="Calibri"/>
              </a:rPr>
              <a:t>Adrielly  • Isabela  • Raíssa  |  Liga Feminina de 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0267A"/>
          </a:solidFill>
          <a:ln cap="flat" cmpd="sng" w="12700">
            <a:solidFill>
              <a:srgbClr val="C026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91440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005840" y="9144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que é TDAH?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0D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1051560"/>
            <a:ext cx="128016" cy="1005840"/>
          </a:xfrm>
          <a:prstGeom prst="rect">
            <a:avLst/>
          </a:prstGeom>
          <a:solidFill>
            <a:srgbClr val="E84393"/>
          </a:solidFill>
          <a:ln cap="flat" cmpd="sng" w="12700">
            <a:solidFill>
              <a:srgbClr val="E843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94360" y="1051560"/>
            <a:ext cx="8092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Transtorno do Déficit de Atenção com Hiperatividade</a:t>
            </a:r>
            <a:r>
              <a:rPr lang="en-US" sz="1350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, é uma </a:t>
            </a:r>
            <a:r>
              <a:rPr b="0" i="0" lang="en-US" sz="135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condição neurológica que afeta o funcionamento do córtex pré-frontal, responsável por atenção, planejamento e controle de impulsos.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2194560"/>
            <a:ext cx="274320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EC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2194560"/>
            <a:ext cx="2743200" cy="438912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65760" y="219456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🧩  Desatenção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75488" y="2697480"/>
            <a:ext cx="252374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Dificuldade de manter foco em tarefas, esquecer compromissos e perder objetos com frequência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91840" y="2194560"/>
            <a:ext cx="274320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EC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91840" y="2194560"/>
            <a:ext cx="2743200" cy="438912"/>
          </a:xfrm>
          <a:prstGeom prst="rect">
            <a:avLst/>
          </a:prstGeom>
          <a:solidFill>
            <a:srgbClr val="E84393"/>
          </a:solidFill>
          <a:ln cap="flat" cmpd="sng" w="12700">
            <a:solidFill>
              <a:srgbClr val="E843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91840" y="219456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⚡  Hiperatividade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401568" y="2697480"/>
            <a:ext cx="252374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Agitação, dificuldade de ficar quieto e necessidade constante de movimento ou estímulo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2194560"/>
            <a:ext cx="274320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EC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217920" y="2194560"/>
            <a:ext cx="2743200" cy="438912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217920" y="219456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🎯  Impulsividade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327648" y="2697480"/>
            <a:ext cx="252374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Agir sem pensar, interromper conversas, tomar decisões precipitadas sem avaliar consequências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6C5CE7"/>
                </a:solidFill>
                <a:latin typeface="Trebuchet MS"/>
                <a:ea typeface="Trebuchet MS"/>
                <a:cs typeface="Trebuchet MS"/>
                <a:sym typeface="Trebuchet MS"/>
              </a:rPr>
              <a:t>📊  TDAH em Números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65760" y="914400"/>
            <a:ext cx="4023360" cy="1691640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F0EC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65760" y="914400"/>
            <a:ext cx="128016" cy="1691640"/>
          </a:xfrm>
          <a:prstGeom prst="rect">
            <a:avLst/>
          </a:prstGeom>
          <a:solidFill>
            <a:srgbClr val="E84393"/>
          </a:solidFill>
          <a:ln cap="flat" cmpd="sng" w="12700">
            <a:solidFill>
              <a:srgbClr val="E843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66928" y="1078992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393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E84393"/>
                </a:solidFill>
                <a:latin typeface="Trebuchet MS"/>
                <a:ea typeface="Trebuchet MS"/>
                <a:cs typeface="Trebuchet MS"/>
                <a:sym typeface="Trebuchet MS"/>
              </a:rPr>
              <a:t>5–</a:t>
            </a:r>
            <a:r>
              <a:rPr b="1" lang="en-US" sz="4400">
                <a:solidFill>
                  <a:srgbClr val="E84393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r>
              <a:rPr b="1" i="0" lang="en-US" sz="4400" u="none" cap="none" strike="noStrike">
                <a:solidFill>
                  <a:srgbClr val="E84393"/>
                </a:solidFill>
                <a:latin typeface="Trebuchet MS"/>
                <a:ea typeface="Trebuchet MS"/>
                <a:cs typeface="Trebuchet MS"/>
                <a:sym typeface="Trebuchet MS"/>
              </a:rPr>
              <a:t>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66928" y="1783080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das crianças no mundo têm TDAH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663440" y="914400"/>
            <a:ext cx="4023360" cy="1691640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F0EC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663440" y="914400"/>
            <a:ext cx="128016" cy="169164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864608" y="1078992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6C5CE7"/>
                </a:solidFill>
                <a:latin typeface="Trebuchet MS"/>
                <a:ea typeface="Trebuchet MS"/>
                <a:cs typeface="Trebuchet MS"/>
                <a:sym typeface="Trebuchet MS"/>
              </a:rPr>
              <a:t>2–3%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864608" y="1783080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dos adultos são diagnosticados com TDAH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5760" y="2834640"/>
            <a:ext cx="4023360" cy="1691640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F0EC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65760" y="2834640"/>
            <a:ext cx="128016" cy="1691640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66928" y="2999232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0B894"/>
                </a:solidFill>
                <a:latin typeface="Trebuchet MS"/>
                <a:ea typeface="Trebuchet MS"/>
                <a:cs typeface="Trebuchet MS"/>
                <a:sym typeface="Trebuchet MS"/>
              </a:rPr>
              <a:t>#1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66928" y="3703320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transtorno neurológico mais comum na infância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663440" y="2834640"/>
            <a:ext cx="4023360" cy="1691640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F0EC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663440" y="2834640"/>
            <a:ext cx="128016" cy="1691640"/>
          </a:xfrm>
          <a:prstGeom prst="rect">
            <a:avLst/>
          </a:prstGeom>
          <a:solidFill>
            <a:srgbClr val="E17055"/>
          </a:solidFill>
          <a:ln cap="flat" cmpd="sng" w="12700">
            <a:solidFill>
              <a:srgbClr val="E170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864608" y="2999232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7055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E17055"/>
                </a:solidFill>
                <a:latin typeface="Trebuchet MS"/>
                <a:ea typeface="Trebuchet MS"/>
                <a:cs typeface="Trebuchet MS"/>
                <a:sym typeface="Trebuchet MS"/>
              </a:rPr>
              <a:t>65%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864608" y="3703320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dos casos persistem na vida adulta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Fontes: DSM-5, ABDA (Associação Brasileira do Déficit de Atenção), OMS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9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4393"/>
          </a:solidFill>
          <a:ln cap="flat" cmpd="sng" w="12700">
            <a:solidFill>
              <a:srgbClr val="E843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91440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1005840" y="9144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Os Desafios do Dia a Dia com TDAH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65760" y="1097280"/>
            <a:ext cx="411480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C026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75488" y="1097280"/>
            <a:ext cx="6400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115568" y="1188720"/>
            <a:ext cx="32461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1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"Eu sei que tinha algo importante para fazer hoje, mas esqueci completamente"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54880" y="1097280"/>
            <a:ext cx="411480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C026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864608" y="1097280"/>
            <a:ext cx="6400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504688" y="1188720"/>
            <a:ext cx="32461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1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"Começo cinco coisas ao mesmo tempo e não termino nenhuma"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65760" y="2331720"/>
            <a:ext cx="411480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C026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75488" y="2331720"/>
            <a:ext cx="6400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115568" y="2423160"/>
            <a:ext cx="32461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1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"Perco a noção do tempo e me atraso para compromissos toda semana"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754880" y="2331720"/>
            <a:ext cx="411480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C026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864608" y="2331720"/>
            <a:ext cx="6400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504688" y="2423160"/>
            <a:ext cx="32461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1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"Anotar tarefas funciona por um dia, depois perco o caderno"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65760" y="3566160"/>
            <a:ext cx="411480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C026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75488" y="3566160"/>
            <a:ext cx="6400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115568" y="3657600"/>
            <a:ext cx="32461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1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"Me sinto sobrecarregado só de pensar em tudo que preciso fazer"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754880" y="3566160"/>
            <a:ext cx="411480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C026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864608" y="3566160"/>
            <a:ext cx="6400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504688" y="3657600"/>
            <a:ext cx="32461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1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"Faço a mesma tarefa duas vezes porque não lembrava que já tinha feito"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6C5CE7"/>
                </a:solidFill>
                <a:latin typeface="Trebuchet MS"/>
                <a:ea typeface="Trebuchet MS"/>
                <a:cs typeface="Trebuchet MS"/>
                <a:sym typeface="Trebuchet MS"/>
              </a:rPr>
              <a:t>🧠  Por que o Checklist Funciona para TDAH?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65760" y="804672"/>
            <a:ext cx="8412480" cy="960120"/>
          </a:xfrm>
          <a:prstGeom prst="rect">
            <a:avLst/>
          </a:prstGeom>
          <a:solidFill>
            <a:srgbClr val="F3F0FF"/>
          </a:solidFill>
          <a:ln cap="flat" cmpd="sng" w="12700">
            <a:solidFill>
              <a:srgbClr val="D6C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48640" y="804672"/>
            <a:ext cx="8046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🔬  A neurociência explica: o cérebro com TDAH tem menor atividade dopaminérgica na memória de trabalho. Externalizar tarefas em listas alivia essa sobrecarga a "memória" vai para o papel, não para o cérebro.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65760" y="1920240"/>
            <a:ext cx="4069080" cy="1261872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E8E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57200" y="1993392"/>
            <a:ext cx="6583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C5CE7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115568" y="2011680"/>
            <a:ext cx="3218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Reduz a Carga Cognitiva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115568" y="2377440"/>
            <a:ext cx="32186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Não é necessário lembrar</a:t>
            </a:r>
            <a:r>
              <a:rPr lang="en-US" sz="1200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a lista lembra por você. O cérebro fica livre para executar, não para guardar.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709160" y="1920240"/>
            <a:ext cx="4069080" cy="1261872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E8E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800600" y="1993392"/>
            <a:ext cx="6583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393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E84393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58968" y="2011680"/>
            <a:ext cx="3218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Dá Visibilidade ao Caos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458968" y="2377440"/>
            <a:ext cx="32186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Transforma a sensação abstrata de "tenho mil coisas" em uma lista concreta e gerenciável.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65760" y="3337560"/>
            <a:ext cx="4069080" cy="1261872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E8E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57200" y="3410712"/>
            <a:ext cx="6583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6C5CE7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115568" y="3429000"/>
            <a:ext cx="3218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Gera Dopamina ao Concluir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115568" y="3794760"/>
            <a:ext cx="32186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Marcar ✓ ativa o sistema de recompensa. Para o TDAH, que tem déficit de dopamina, cada check é uma vitória real.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709160" y="3337560"/>
            <a:ext cx="4069080" cy="1261872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E8E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800600" y="3410712"/>
            <a:ext cx="6583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393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E84393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58968" y="3429000"/>
            <a:ext cx="32186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Cria Estrutura e Rotina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58968" y="3794760"/>
            <a:ext cx="32186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O checklist substitui o planejamento mental que o TDAH dificulta, criando um "roteiro" concreto do dia.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91440"/>
            <a:ext cx="749808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1005840" y="9144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Impacto Real na Vida de Quem Usa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393"/>
              </a:buClr>
              <a:buSzPts val="15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E84393"/>
                </a:solidFill>
                <a:latin typeface="Trebuchet MS"/>
                <a:ea typeface="Trebuchet MS"/>
                <a:cs typeface="Trebuchet MS"/>
                <a:sym typeface="Trebuchet MS"/>
              </a:rPr>
              <a:t>SEM checklist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5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0B894"/>
                </a:solidFill>
                <a:latin typeface="Trebuchet MS"/>
                <a:ea typeface="Trebuchet MS"/>
                <a:cs typeface="Trebuchet MS"/>
                <a:sym typeface="Trebuchet MS"/>
              </a:rPr>
              <a:t>COM checklist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315968" y="1005840"/>
            <a:ext cx="512064" cy="347472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315968" y="2560320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65760" y="1536192"/>
            <a:ext cx="3886200" cy="658368"/>
          </a:xfrm>
          <a:prstGeom prst="rect">
            <a:avLst/>
          </a:prstGeom>
          <a:solidFill>
            <a:srgbClr val="FFF0F5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75488" y="15361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393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E84393"/>
                </a:solidFill>
                <a:latin typeface="Calibri"/>
                <a:ea typeface="Calibri"/>
                <a:cs typeface="Calibri"/>
                <a:sym typeface="Calibri"/>
              </a:rPr>
              <a:t>✗  Esquece compromissos importantes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892040" y="1536192"/>
            <a:ext cx="3886200" cy="658368"/>
          </a:xfrm>
          <a:prstGeom prst="rect">
            <a:avLst/>
          </a:prstGeom>
          <a:solidFill>
            <a:srgbClr val="F0FFF8"/>
          </a:solidFill>
          <a:ln cap="flat" cmpd="sng" w="12700">
            <a:solidFill>
              <a:srgbClr val="C8F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001768" y="15361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✓  Todos os compromissos registrados e visíveis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65760" y="2313432"/>
            <a:ext cx="3886200" cy="658368"/>
          </a:xfrm>
          <a:prstGeom prst="rect">
            <a:avLst/>
          </a:prstGeom>
          <a:solidFill>
            <a:srgbClr val="FFF0F5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75488" y="231343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393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E84393"/>
                </a:solidFill>
                <a:latin typeface="Calibri"/>
                <a:ea typeface="Calibri"/>
                <a:cs typeface="Calibri"/>
                <a:sym typeface="Calibri"/>
              </a:rPr>
              <a:t>✗  Sensação de caos e sobrecarga mental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892040" y="2313432"/>
            <a:ext cx="3886200" cy="658368"/>
          </a:xfrm>
          <a:prstGeom prst="rect">
            <a:avLst/>
          </a:prstGeom>
          <a:solidFill>
            <a:srgbClr val="F0FFF8"/>
          </a:solidFill>
          <a:ln cap="flat" cmpd="sng" w="12700">
            <a:solidFill>
              <a:srgbClr val="C8F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001768" y="231343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✓  Clareza sobre o que precisa ser feito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65760" y="3090672"/>
            <a:ext cx="3886200" cy="658368"/>
          </a:xfrm>
          <a:prstGeom prst="rect">
            <a:avLst/>
          </a:prstGeom>
          <a:solidFill>
            <a:srgbClr val="FFF0F5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75488" y="309067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393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E84393"/>
                </a:solidFill>
                <a:latin typeface="Calibri"/>
                <a:ea typeface="Calibri"/>
                <a:cs typeface="Calibri"/>
                <a:sym typeface="Calibri"/>
              </a:rPr>
              <a:t>✗  Começa tarefas e não termina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892040" y="3090672"/>
            <a:ext cx="3886200" cy="658368"/>
          </a:xfrm>
          <a:prstGeom prst="rect">
            <a:avLst/>
          </a:prstGeom>
          <a:solidFill>
            <a:srgbClr val="F0FFF8"/>
          </a:solidFill>
          <a:ln cap="flat" cmpd="sng" w="12700">
            <a:solidFill>
              <a:srgbClr val="C8F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001768" y="309067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✓  Foco em uma tarefa por vez, com progresso claro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65760" y="3867912"/>
            <a:ext cx="3886200" cy="658368"/>
          </a:xfrm>
          <a:prstGeom prst="rect">
            <a:avLst/>
          </a:prstGeom>
          <a:solidFill>
            <a:srgbClr val="FFF0F5"/>
          </a:solidFill>
          <a:ln cap="flat" cmpd="sng" w="12700">
            <a:solidFill>
              <a:srgbClr val="FFD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75488" y="386791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393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E84393"/>
                </a:solidFill>
                <a:latin typeface="Calibri"/>
                <a:ea typeface="Calibri"/>
                <a:cs typeface="Calibri"/>
                <a:sym typeface="Calibri"/>
              </a:rPr>
              <a:t>✗  Procrastinação por não saber por onde começar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892040" y="3867912"/>
            <a:ext cx="3886200" cy="658368"/>
          </a:xfrm>
          <a:prstGeom prst="rect">
            <a:avLst/>
          </a:prstGeom>
          <a:solidFill>
            <a:srgbClr val="F0FFF8"/>
          </a:solidFill>
          <a:ln cap="flat" cmpd="sng" w="12700">
            <a:solidFill>
              <a:srgbClr val="C8F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001768" y="386791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00B894"/>
                </a:solidFill>
                <a:latin typeface="Calibri"/>
                <a:ea typeface="Calibri"/>
                <a:cs typeface="Calibri"/>
                <a:sym typeface="Calibri"/>
              </a:rPr>
              <a:t>✓  Primeiro passo sempre definido e concreto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6C5CE7"/>
                </a:solidFill>
                <a:latin typeface="Trebuchet MS"/>
                <a:ea typeface="Trebuchet MS"/>
                <a:cs typeface="Trebuchet MS"/>
                <a:sym typeface="Trebuchet MS"/>
              </a:rPr>
              <a:t>💡  Por que Escolhemos Este Tema?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65760" y="804672"/>
            <a:ext cx="8412480" cy="822960"/>
          </a:xfrm>
          <a:prstGeom prst="rect">
            <a:avLst/>
          </a:prstGeom>
          <a:solidFill>
            <a:srgbClr val="F3F0FF"/>
          </a:solidFill>
          <a:ln cap="flat" cmpd="sng" w="12700">
            <a:solidFill>
              <a:srgbClr val="D6C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65760" y="804672"/>
            <a:ext cx="128016" cy="822960"/>
          </a:xfrm>
          <a:prstGeom prst="rect">
            <a:avLst/>
          </a:prstGeom>
          <a:solidFill>
            <a:srgbClr val="E84393"/>
          </a:solidFill>
          <a:ln cap="flat" cmpd="sng" w="12700">
            <a:solidFill>
              <a:srgbClr val="E843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94360" y="804672"/>
            <a:ext cx="8092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300"/>
              <a:buFont typeface="Calibri"/>
              <a:buNone/>
            </a:pPr>
            <a:r>
              <a:rPr b="0" i="1" lang="en-US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"Queríamos construir algo que tivesse uso real</a:t>
            </a:r>
            <a:r>
              <a:rPr i="1" lang="en-US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não apenas um exercício técnico, mas uma ferramenta que pudesse de fato ajudar pessoas."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65760" y="1783080"/>
            <a:ext cx="4069080" cy="1353312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E8E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65760" y="1783080"/>
            <a:ext cx="4069080" cy="420624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75488" y="1783080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👥  Causa com propósito social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75488" y="225856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O TDAH afeta milhões de brasileiros, muitos sem diagnóstico. Um sistema simples de tarefas pode mudar a rotina de alguém.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709160" y="1783080"/>
            <a:ext cx="4069080" cy="1353312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E8E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709160" y="1783080"/>
            <a:ext cx="4069080" cy="420624"/>
          </a:xfrm>
          <a:prstGeom prst="rect">
            <a:avLst/>
          </a:prstGeom>
          <a:solidFill>
            <a:srgbClr val="E84393"/>
          </a:solidFill>
          <a:ln cap="flat" cmpd="sng" w="12700">
            <a:solidFill>
              <a:srgbClr val="E843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818888" y="1783080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🔗  Conexão com o conteúdo da disciplina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818888" y="225856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Banco de dados relacional, CRUD, JOIN e integridade referencial</a:t>
            </a:r>
            <a:r>
              <a:rPr lang="en-US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tudo faz sentido num sistema de usuários e tarefas reais.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65760" y="3291840"/>
            <a:ext cx="4069080" cy="1353312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E8E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65760" y="3291840"/>
            <a:ext cx="4069080" cy="420624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75488" y="3291840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🧪  Aplicação prática de POO e MVC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75488" y="376732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Modelar Tarefa e Usuario como classes com encapsulamento foi um exercício natural e motivador dentro desse contexto.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709160" y="3291840"/>
            <a:ext cx="4069080" cy="1353312"/>
          </a:xfrm>
          <a:prstGeom prst="rect">
            <a:avLst/>
          </a:prstGeom>
          <a:solidFill>
            <a:srgbClr val="FFF9FF"/>
          </a:solidFill>
          <a:ln cap="flat" cmpd="sng" w="12700">
            <a:solidFill>
              <a:srgbClr val="E8E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6C5CE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709160" y="3291840"/>
            <a:ext cx="4069080" cy="420624"/>
          </a:xfrm>
          <a:prstGeom prst="rect">
            <a:avLst/>
          </a:prstGeom>
          <a:solidFill>
            <a:srgbClr val="E17055"/>
          </a:solidFill>
          <a:ln cap="flat" cmpd="sng" w="12700">
            <a:solidFill>
              <a:srgbClr val="E170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818888" y="3291840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🚀  Potencial de evolução futura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818888" y="376732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O sistema pode crescer: notificações, interface gráfica, prioridades, modo foco</a:t>
            </a:r>
            <a:r>
              <a:rPr lang="en-US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um MVP real com base sólida.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C5CE7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0" y="118872"/>
            <a:ext cx="347472" cy="5024628"/>
          </a:xfrm>
          <a:prstGeom prst="rect">
            <a:avLst/>
          </a:prstGeom>
          <a:solidFill>
            <a:srgbClr val="E84393"/>
          </a:solidFill>
          <a:ln cap="flat" cmpd="sng" w="12700">
            <a:solidFill>
              <a:srgbClr val="E843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50292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457200" y="1874520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1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"Organização é um ato de amor próprio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2423160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EFC4"/>
              </a:buClr>
              <a:buSzPts val="2400"/>
              <a:buFont typeface="Trebuchet MS"/>
              <a:buNone/>
            </a:pPr>
            <a:r>
              <a:rPr b="0" i="1" lang="en-US" sz="2400" u="none" cap="none" strike="noStrike">
                <a:solidFill>
                  <a:srgbClr val="55EFC4"/>
                </a:solidFill>
                <a:latin typeface="Trebuchet MS"/>
                <a:ea typeface="Trebuchet MS"/>
                <a:cs typeface="Trebuchet MS"/>
                <a:sym typeface="Trebuchet MS"/>
              </a:rPr>
              <a:t>especialmente para quem o cérebro faz isso ser difícil."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097280" y="2971800"/>
            <a:ext cx="6949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Nosso projeto nasceu da vontade de usar a tecnologia como ferramenta de inclusão. Um sistema simples de tarefas pode devolver autonomia a quem convive com o TDAH.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42976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A4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2A4FF"/>
                </a:solidFill>
                <a:latin typeface="Calibri"/>
                <a:ea typeface="Calibri"/>
                <a:cs typeface="Calibri"/>
                <a:sym typeface="Calibri"/>
              </a:rPr>
              <a:t>Adrielly </a:t>
            </a:r>
            <a:r>
              <a:rPr b="0" i="0" lang="en-US" sz="1200" u="none" cap="none" strike="noStrike">
                <a:solidFill>
                  <a:srgbClr val="B2A4FF"/>
                </a:solidFill>
                <a:latin typeface="Calibri"/>
                <a:ea typeface="Calibri"/>
                <a:cs typeface="Calibri"/>
                <a:sym typeface="Calibri"/>
              </a:rPr>
              <a:t> • </a:t>
            </a:r>
            <a:r>
              <a:rPr lang="en-US" sz="1200">
                <a:solidFill>
                  <a:srgbClr val="B2A4FF"/>
                </a:solidFill>
                <a:latin typeface="Calibri"/>
                <a:ea typeface="Calibri"/>
                <a:cs typeface="Calibri"/>
                <a:sym typeface="Calibri"/>
              </a:rPr>
              <a:t>Isabela</a:t>
            </a:r>
            <a:r>
              <a:rPr b="0" i="0" lang="en-US" sz="1200" u="none" cap="none" strike="noStrike">
                <a:solidFill>
                  <a:srgbClr val="B2A4FF"/>
                </a:solidFill>
                <a:latin typeface="Calibri"/>
                <a:ea typeface="Calibri"/>
                <a:cs typeface="Calibri"/>
                <a:sym typeface="Calibri"/>
              </a:rPr>
              <a:t>  • </a:t>
            </a:r>
            <a:r>
              <a:rPr lang="en-US" sz="1200">
                <a:solidFill>
                  <a:srgbClr val="B2A4FF"/>
                </a:solidFill>
                <a:latin typeface="Calibri"/>
                <a:ea typeface="Calibri"/>
                <a:cs typeface="Calibri"/>
                <a:sym typeface="Calibri"/>
              </a:rPr>
              <a:t>Raíssa</a:t>
            </a:r>
            <a:r>
              <a:rPr b="0" i="0" lang="en-US" sz="1200" u="none" cap="none" strike="noStrike">
                <a:solidFill>
                  <a:srgbClr val="B2A4FF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lang="en-US" sz="1200">
                <a:solidFill>
                  <a:srgbClr val="B2A4FF"/>
                </a:solidFill>
                <a:latin typeface="Calibri"/>
                <a:ea typeface="Calibri"/>
                <a:cs typeface="Calibri"/>
                <a:sym typeface="Calibri"/>
              </a:rPr>
              <a:t>Liga Feminina de 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0B894"/>
          </a:solidFill>
          <a:ln cap="flat" cmpd="sng" w="12700">
            <a:solidFill>
              <a:srgbClr val="00B8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2026-04-24T22:49:18Z</dcterms:created>
  <dc:creator>PptxGenJS</dc:creator>
</cp:coreProperties>
</file>